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 (R$ mi)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39.3</c:v>
                </c:pt>
                <c:pt idx="1">
                  <c:v>70.2</c:v>
                </c:pt>
                <c:pt idx="2">
                  <c:v>132.5</c:v>
                </c:pt>
                <c:pt idx="3">
                  <c:v>173.8</c:v>
                </c:pt>
                <c:pt idx="4">
                  <c:v>235.5</c:v>
                </c:pt>
                <c:pt idx="5">
                  <c:v>403.9</c:v>
                </c:pt>
                <c:pt idx="6">
                  <c:v>340.7</c:v>
                </c:pt>
                <c:pt idx="7">
                  <c:v>390.6</c:v>
                </c:pt>
                <c:pt idx="8">
                  <c:v>397.3</c:v>
                </c:pt>
                <c:pt idx="9">
                  <c:v>308.4</c:v>
                </c:pt>
                <c:pt idx="10">
                  <c:v>182.7</c:v>
                </c:pt>
                <c:pt idx="11">
                  <c:v>85.4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472"/>
                </a:solidFill>
                <a:latin typeface="Arial"/>
              </a:rPr>
              <a:t>Top 10 UFs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 (R$ mi)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ES</c:v>
                  </c:pt>
                  <c:pt idx="1">
                    <c:v>CE</c:v>
                  </c:pt>
                  <c:pt idx="2">
                    <c:v>PE</c:v>
                  </c:pt>
                  <c:pt idx="3">
                    <c:v>SC</c:v>
                  </c:pt>
                  <c:pt idx="4">
                    <c:v>BA</c:v>
                  </c:pt>
                  <c:pt idx="5">
                    <c:v>PR</c:v>
                  </c:pt>
                  <c:pt idx="6">
                    <c:v>RS</c:v>
                  </c:pt>
                  <c:pt idx="7">
                    <c:v>MG</c:v>
                  </c:pt>
                  <c:pt idx="8">
                    <c:v>RJ</c:v>
                  </c:pt>
                  <c:pt idx="9">
                    <c:v>SP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82.1</c:v>
                </c:pt>
                <c:pt idx="1">
                  <c:v>96.7</c:v>
                </c:pt>
                <c:pt idx="2">
                  <c:v>105.6</c:v>
                </c:pt>
                <c:pt idx="3">
                  <c:v>121.5</c:v>
                </c:pt>
                <c:pt idx="4">
                  <c:v>169.9</c:v>
                </c:pt>
                <c:pt idx="5">
                  <c:v>194.3</c:v>
                </c:pt>
                <c:pt idx="6">
                  <c:v>200.7</c:v>
                </c:pt>
                <c:pt idx="7">
                  <c:v>291.7</c:v>
                </c:pt>
                <c:pt idx="8">
                  <c:v>367.5</c:v>
                </c:pt>
                <c:pt idx="9">
                  <c:v>608.4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472"/>
                </a:solidFill>
                <a:latin typeface="Arial"/>
              </a:rPr>
              <a:t>Forma de pagamento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Pagamento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bubble3D val="0"/>
            <c:spPr>
              <a:solidFill>
                <a:srgbClr val="B87333"/>
              </a:solidFill>
              <a:effectLst/>
            </c:spPr>
          </c:dPt>
          <c:dPt>
            <c:idx val="3"/>
            <c:bubble3D val="0"/>
            <c:spPr>
              <a:solidFill>
                <a:srgbClr val="8C96A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Cartão de crédito</c:v>
                </c:pt>
                <c:pt idx="1">
                  <c:v>Pix</c:v>
                </c:pt>
                <c:pt idx="2">
                  <c:v>Cartão de débito</c:v>
                </c:pt>
                <c:pt idx="3">
                  <c:v>Boleto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967.3</c:v>
                </c:pt>
                <c:pt idx="1">
                  <c:v>828.8</c:v>
                </c:pt>
                <c:pt idx="2">
                  <c:v>553</c:v>
                </c:pt>
                <c:pt idx="3">
                  <c:v>411.2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472"/>
                </a:solidFill>
                <a:latin typeface="Arial"/>
              </a:rPr>
              <a:t>Por segmento de cliente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 (R$ mi)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Platina</c:v>
                  </c:pt>
                  <c:pt idx="1">
                    <c:v>Ouro</c:v>
                  </c:pt>
                  <c:pt idx="2">
                    <c:v>Prata</c:v>
                  </c:pt>
                  <c:pt idx="3">
                    <c:v>Bronze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141.2</c:v>
                </c:pt>
                <c:pt idx="1">
                  <c:v>412.3</c:v>
                </c:pt>
                <c:pt idx="2">
                  <c:v>831.5</c:v>
                </c:pt>
                <c:pt idx="3">
                  <c:v>1375.3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472"/>
                </a:solidFill>
                <a:latin typeface="Arial"/>
              </a:rPr>
              <a:t>Por categoria de produto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 (R$ mi)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Alimentos</c:v>
                  </c:pt>
                  <c:pt idx="1">
                    <c:v>Casa e Decoração</c:v>
                  </c:pt>
                  <c:pt idx="2">
                    <c:v>Automotivo</c:v>
                  </c:pt>
                  <c:pt idx="3">
                    <c:v>Livros</c:v>
                  </c:pt>
                  <c:pt idx="4">
                    <c:v>Esportes</c:v>
                  </c:pt>
                  <c:pt idx="5">
                    <c:v>Moda</c:v>
                  </c:pt>
                  <c:pt idx="6">
                    <c:v>Informática</c:v>
                  </c:pt>
                  <c:pt idx="7">
                    <c:v>Saúde e Beleza</c:v>
                  </c:pt>
                  <c:pt idx="8">
                    <c:v>Brinquedos</c:v>
                  </c:pt>
                  <c:pt idx="9">
                    <c:v>Eletrônicos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270.9</c:v>
                </c:pt>
                <c:pt idx="1">
                  <c:v>273.4</c:v>
                </c:pt>
                <c:pt idx="2">
                  <c:v>273.9</c:v>
                </c:pt>
                <c:pt idx="3">
                  <c:v>274.8</c:v>
                </c:pt>
                <c:pt idx="4">
                  <c:v>275.6</c:v>
                </c:pt>
                <c:pt idx="5">
                  <c:v>275.7</c:v>
                </c:pt>
                <c:pt idx="6">
                  <c:v>278.4</c:v>
                </c:pt>
                <c:pt idx="7">
                  <c:v>278.6</c:v>
                </c:pt>
                <c:pt idx="8">
                  <c:v>278.8</c:v>
                </c:pt>
                <c:pt idx="9">
                  <c:v>280.2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abre: apresentar o grupo e o tema. Enquanto isso o docker compose up já está rodando (subido 2 minutos antes).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de negócio: quanto faturamos, onde, quando, como o cliente paga e em quais categorias? Vendas = arquivos oficiais da Aula 3; clientes e categorias = Aula 2. Nenhum arquivo alterado. São sintéticos (gerados pelo professor).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guarda como chegou (o parceiro A continua com colunas em português). Silver limpa e unifica. Gold responde ao negócio. Metadados de linhagem ligam cada linha ao arquivo e à execução do Airflow.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Spark roda via SparkSubmitOperator em modo local[2], dentro do container do Airflow (LocalExecutor + Postgres). Gates não têm retry: reprovação de qualidade é determinística. max_active_runs=1 porque as camadas são sobrescritas.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não cluster: requisito de 8 GB e risco da demo ao vivo. É só trocar a conexão.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conduz, P4 comenta. Plano B: vídeo gravado na véspera + prints em docs/img. Se o tempo apertar, pular o passo 6 e mostrar o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Nulo só reprova em completude — cada problema aparece uma vez no relatório. Histórico de cada gate vai para data/quality/historico (Parquet append-only) para monitoramento.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Comando para mostrar: docker compose exec airflow-scheduler python scripts/mostrar_resultados.py --secao gates. 71% = 83.425 de 116.871 linhas com partner_source ≠ arquivo de origem.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Crescimento MoM calculado com lag() e acumulado com window. Junho: R$ 403,9 mi (+71,6% sobre maio). Ticket médio alto porque os dados são sintéticos do gerador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por dense_rank(). Participação %, taxa de cancelamento (~10% em todos os estados) e ticket médio também estão na tabela. Cartão de crédito 35%, Pix 30%, débito 20%, boleto 15%.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Produto → categoria pela regra do lab da Aula 2 (500 produtos por categoria), porque o JSON de categorias não tem product_id. 40 linhas na tabela (10 categorias × 4 segmentos). Gate Gold confirma que nenhuma venda ficou sem categoria ou sem segmento.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P5 fecha. Cada dificuldade tem uma história curta — escolher 1 ou 2 para contar.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Respostas curtas para perguntas prováveis estão em docs/apresentacao.md.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292608" cy="292608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" y="640080"/>
            <a:ext cx="292608" cy="292608"/>
          </a:xfrm>
          <a:prstGeom prst="ellipse">
            <a:avLst/>
          </a:prstGeom>
          <a:solidFill>
            <a:srgbClr val="8C96A3"/>
          </a:solidFill>
          <a:ln/>
        </p:spPr>
      </p:sp>
      <p:sp>
        <p:nvSpPr>
          <p:cNvPr id="4" name="Shape 2"/>
          <p:cNvSpPr/>
          <p:nvPr/>
        </p:nvSpPr>
        <p:spPr>
          <a:xfrm>
            <a:off x="1225296" y="64008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ShopBrasil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de 3 parceiros → Bronze · Silver · Gold, com qualidade de dados e orquestração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3.5  ·  Airflow 2.8  ·  Docker Compose  ·  Parquet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03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— Big Data Processing · MBA em Engenharia de Dados · Mackenzie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Alexandre Tavares · Opção A — DataFlow Analytics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[nomes do grupo]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474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83880" y="347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três parceiros, três formatos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ShopBrasil quer um dashboard executivo confiável — hoje cada parceiro manda os dados de um jeito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legado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ISO-8859-1, separador ';', colunas em português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6.871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· 3 arquivos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41732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78892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de API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Paginado, registros dentro de data[] + metadados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30.000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· 3 arquivos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93776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C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moderno, tipos já definidos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80.000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· 1 arquivo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95160" y="1417320"/>
            <a:ext cx="1737360" cy="3017520"/>
          </a:xfrm>
          <a:prstGeom prst="roundRect">
            <a:avLst>
              <a:gd name="adj" fmla="val 4211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8660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116.871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2651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de 2023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7 arquivos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+ 500 mil clientes (Parquet)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categorias (JSON)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840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datasets/aula_03 e aula_02 (repo da disciplina)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474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83880" y="347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Medallion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tem um contrato claro — e nenhum registro se perde no caminho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828800" cy="2514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72768"/>
            <a:ext cx="457200" cy="45720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5727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data/raw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94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Vendas: 3 CSV · 3 JSON · 1 Parquet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(Parquet)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(JSON)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fonte enviou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5400000">
            <a:off x="2331720" y="2560320"/>
            <a:ext cx="182880" cy="228600"/>
          </a:xfrm>
          <a:prstGeom prst="rtTriangl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417320"/>
            <a:ext cx="1828800" cy="2514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572768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15727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194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original, sem regra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_source, _source_file,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_ingestion_ts, _batch_id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colunas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rot="5400000">
            <a:off x="4434840" y="2560320"/>
            <a:ext cx="182880" cy="228600"/>
          </a:xfrm>
          <a:prstGeom prst="rtTriangl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417320"/>
            <a:ext cx="1828800" cy="2514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572768"/>
            <a:ext cx="457200" cy="457200"/>
          </a:xfrm>
          <a:prstGeom prst="ellipse">
            <a:avLst/>
          </a:prstGeom>
          <a:solidFill>
            <a:srgbClr val="8C96A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15727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194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unificado e tipado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Deduplicado por order_id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Particionado por ano_mes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clientes (sem PII) e categorias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5400000">
            <a:off x="6537960" y="2560320"/>
            <a:ext cx="182880" cy="228600"/>
          </a:xfrm>
          <a:prstGeom prst="rtTriangl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1417320"/>
            <a:ext cx="1828800" cy="2514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157276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494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15727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194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faturamento_por_estado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analise_mensal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faturamento_por_pagamento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faturamento_categoria_ segmento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0" y="411480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DF1DC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2743200" y="4114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Quarentena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reprovados saem da Silver com a lista de motivos (_motivos)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4114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= Silver + Quarentena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474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83880" y="347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Orquestração no Airflow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shopbrasil_pipeline_vendas · 10 tasks · retries · callback de falha · parâmetros na UI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64208"/>
            <a:ext cx="457200" cy="45720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581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856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aguardar_arquivos_parceiros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664208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1581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856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bronze_ingestao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664208"/>
            <a:ext cx="457200" cy="457200"/>
          </a:xfrm>
          <a:prstGeom prst="ellipse">
            <a:avLst/>
          </a:prstGeom>
          <a:solidFill>
            <a:srgbClr val="8C96A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22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581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1856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silver_transformacao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2807208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2724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2999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quality_gate_silver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26060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83280" y="280720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3832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977640" y="2724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931920" y="2999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gold_agregacao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26060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2807208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17220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2724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720840" y="2999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quality_gate_gold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40080" y="38404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verificar_quarentena → alertar_quarentena | sem_pendencias → notificar_sucesso (resumo executivo)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89320" y="384048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172200" y="38404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Falhou?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on_failure_callback grava o alerta em data/notificacoes/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474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83880" y="347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de arquitetura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Escolhas conscientes para caber em 8 GB / 4 cores e não falhar ao vivo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em modo local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075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imagem só (Airflow + Java 17 + PySpark). Para escalar, troca-se a conexão spark_local por um cluster — os jobs não mudam.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600200"/>
            <a:ext cx="457200" cy="457200"/>
          </a:xfrm>
          <a:prstGeom prst="ellipse">
            <a:avLst/>
          </a:prstGeom>
          <a:solidFill>
            <a:srgbClr val="8C96A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Overwrite idempotente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075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DAG duas vezes gera os mesmos números. Nada duplica; só o histórico de qualidade acumula, de propósito.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na Bronze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7216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parceiro mudar o layout do arquivo, SchemaDriftError para o pipeline antes de contaminar a Silver.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306324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24612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comando sobe tudo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37216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up: Postgres, init (migra banco, cria admin), webserver e scheduler. Também roda no GitHub Codespaces.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474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83880" y="347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ao vivo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 →  pipeline end-to-end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6002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ps — serviços healthy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305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→ Graph da DAG: 10 tasks verdes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660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 Bronze: 6.871 · 30.000 · 80.000 por parceiro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1912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 Silver: 116.871 → 116.871 + 0, conservação OK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21608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7216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 novo + Spark UI (porta 4040) — mesmos números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25196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w/ config volume_minimo_silver = 200000 → gate vermelho, Gold não roda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474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83880" y="347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de dados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Great Expectations/Soda: regras PySpark em quality/checks.py, testadas com pytest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3716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campos obrigatórios não nulos e não vazios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199339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 de domínio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19933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forma de pagamento, 27 UFs, valores &gt; 0, data em 2023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261518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261518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 = quantity × unit_price (± R$ 0,01)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23697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23697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existe no cadastro de clientes (broadcast join)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58768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385876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38587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ocorrência de order_id fica; as demais → quarentena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371600"/>
            <a:ext cx="3749040" cy="3017520"/>
          </a:xfrm>
          <a:prstGeom prst="roundRect">
            <a:avLst>
              <a:gd name="adj" fmla="val 2424"/>
            </a:avLst>
          </a:prstGeom>
          <a:solidFill>
            <a:srgbClr val="14213D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1206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gates bloqueantes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205740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Silver (antes da Gold)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conservação · completude · unicidade · domínio · integridade · quarentena ≤ 10% · volume ≥ 50 mil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Gold (antes de notificar)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faturamento por estado = mês = pagamento = categoria×segmento = Silver · sem categoria/segmento desconhecido · nenhum valor negativo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474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83880" y="347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qualidade encontrou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116.871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na Bronze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C9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116.871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na Silver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quarentena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15/15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dos gates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Quarentena vazia é resultado, não falha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880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arquivos não têm nulos, duplicatas, valores fora do domínio, totais inconsistentes nem clientes fora do cadastro. Os testes unitários injetam registros ruins e provam que cada regra manda para a quarentena.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DF1DC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4632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Achado: linhagem declarada não é confiável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834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linhas trazem um partner_source diferente do parceiro que enviou o arquivo. Por isso a linhagem usa o _source definido pelo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474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83880" y="347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· analise_mensal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de pedidos não cancelados, em R$ milhões — pico em junho, queda forte em nov/dez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8521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12801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72084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R$ 2,76 bi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2023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24688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72084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105.054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3035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faturados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0" y="36576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72084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R$ 26,3 mil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474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83880" y="347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· por estado e por forma de pagamento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milhões — SP sozinho responde por 22% do faturamento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120640" y="1234440"/>
          <a:ext cx="3566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474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83880" y="347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· categoria × segmento de cliente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milhões — vendas ligadas às dimensões da Aula 2 com broadcast join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23444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DF1DC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honesta: segmentos seguem a base de clientes (50/30/15/5%) e categorias ficam quase iguais — é o perfil dos dados sintéticos do curso.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474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83880" y="347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256032" cy="256032"/>
          </a:xfrm>
          <a:prstGeom prst="ellipse">
            <a:avLst/>
          </a:prstGeom>
          <a:solidFill>
            <a:srgbClr val="B83A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Dificuldades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Latin-1 e ';' no CSV legado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com envelope de API (data[] + paginação)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com e sem hora entre parceiros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de arquivo entre host e container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325880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9476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288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fiel à origem facilita auditoria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bloqueante evita publicar número errado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Idempotência simplifica reprocessar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Linhagem declarada ≠ linhagem real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25880"/>
            <a:ext cx="256032" cy="256032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288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incremental por _data_ref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Spark standalone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/ Iceberg (time travel)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no Slack + dashboard na Gold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292608" cy="292608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" y="1097280"/>
            <a:ext cx="292608" cy="292608"/>
          </a:xfrm>
          <a:prstGeom prst="ellipse">
            <a:avLst/>
          </a:prstGeom>
          <a:solidFill>
            <a:srgbClr val="8C96A3"/>
          </a:solidFill>
          <a:ln/>
        </p:spPr>
      </p:sp>
      <p:sp>
        <p:nvSpPr>
          <p:cNvPr id="4" name="Shape 2"/>
          <p:cNvSpPr/>
          <p:nvPr/>
        </p:nvSpPr>
        <p:spPr>
          <a:xfrm>
            <a:off x="1225296" y="109728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[link do GitHub]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docs/arquitetura.md · docs/apresentacao.md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ShopBrasil — Projeto Final Big Data Processing</dc:title>
  <dc:subject>PptxGenJS Presentation</dc:subject>
  <dc:creator>PptxGenJS</dc:creator>
  <cp:lastModifiedBy>PptxGenJS</cp:lastModifiedBy>
  <cp:revision>1</cp:revision>
  <dcterms:created xsi:type="dcterms:W3CDTF">2026-09-30T04:00:03Z</dcterms:created>
  <dcterms:modified xsi:type="dcterms:W3CDTF">2026-09-30T04:00:03Z</dcterms:modified>
</cp:coreProperties>
</file>